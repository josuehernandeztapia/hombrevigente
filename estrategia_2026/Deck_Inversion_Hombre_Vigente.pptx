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1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7772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4688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sistema operativo de la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longevidad y estética masculina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4434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con IA · protocolos personalizados · seguimiento continuo — en un modelo híbrido de lounge físico + e-commerce IA-nativo.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deck</a:t>
            </a:r>
            <a:pPr indent="0" marL="0">
              <a:buNone/>
            </a:pPr>
            <a:r>
              <a:rPr lang="en-US" sz="1300" dirty="0">
                <a:solidFill>
                  <a:srgbClr val="9A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hombre quiere optimizarse — pero no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tiene una opción seria.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35224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fragmentado y opaco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83080" y="31729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de péptidos "research use only" sin marca de confianza, sin servicio ni acompañamiento médico.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904488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233672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40873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personalización real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783080" y="447141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sueltos. Nadie integra tus datos (foto, labs, wearable) en un protocolo hecho para ti.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5202936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55321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53858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acompañamiento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57698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compra a ciegas y queda solo. No hay seguimiento, ni ajuste, ni respaldo profesional.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AHORA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vientos de cola convergen.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85232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6090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Healthspan &gt; lifespan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wellness global es ~$1.8T creciendo 5–10%/año; 82% lo ponen como prioridad alta.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822192"/>
            <a:ext cx="5285232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968496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hombre llega a la estética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4325112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categoría de mayor crecimiento" en 2026; Botox masculino +22% interanual en EE.UU.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5129784"/>
            <a:ext cx="5285232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27608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Spillover de GLP-1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563270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Ozempic normalizó pagar suscripción mensual por optimización por telehealth.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2514600"/>
            <a:ext cx="5285232" cy="1143000"/>
          </a:xfrm>
          <a:prstGeom prst="roundRect">
            <a:avLst>
              <a:gd name="adj" fmla="val 64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2660904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mainstream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017520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ya compró un wearable; CGMs salen OTC — 41% de usuarios NO diabéticos.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822192"/>
            <a:ext cx="5285232" cy="1143000"/>
          </a:xfrm>
          <a:prstGeom prst="roundRect">
            <a:avLst>
              <a:gd name="adj" fmla="val 6400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37960" y="3968496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con rieles listos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325112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e-commerce móvil, WhatsApp commerce real, OXXO + BNPL para el no-bancarizado.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Hombre Vigente: un protocolo vivo, no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productos sueltos.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Subes tus datos → una IA multimodal arma tu protocolo personalizado → te lo entrega en bundles inteligentes → y lo ajusta semana a semana con tus resultados reales.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3749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395020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7548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60120" y="5166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(visión IA), labs y wearables en un solo perfil de salud + estética.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342900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749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39502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47548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Personalización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63440" y="5166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recomendación que detecta inconsistencias y arma tu stack.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3429000"/>
            <a:ext cx="3511296" cy="2468880"/>
          </a:xfrm>
          <a:prstGeom prst="roundRect">
            <a:avLst>
              <a:gd name="adj" fmla="val 296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3749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E7E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395020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475488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66760" y="516636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por app / WhatsApp, fotos semanales y ajuste continuo.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flujo de 7 pasos que mejora solo.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8036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81328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01568" y="26517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288036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42816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63056" y="26517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288036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391656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04304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24544" y="265176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53144" y="288036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153144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765792" y="28346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81328" y="4617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3401568" y="4434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30168" y="4663440"/>
            <a:ext cx="502920" cy="50292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28" name="Text 26"/>
          <p:cNvSpPr/>
          <p:nvPr/>
        </p:nvSpPr>
        <p:spPr>
          <a:xfrm>
            <a:off x="3630168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242816" y="4617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163056" y="44348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91656" y="4663440"/>
            <a:ext cx="502920" cy="50292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32" name="Text 30"/>
          <p:cNvSpPr/>
          <p:nvPr/>
        </p:nvSpPr>
        <p:spPr>
          <a:xfrm>
            <a:off x="6391656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04304" y="46177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&amp;</a:t>
            </a:r>
            <a:endParaRPr lang="en-US" sz="13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 mejora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7 retroalimenta al paso 1: cada usuario mejora el motor de recomendación para todos (data moat).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protocolos, derivados del Caso #1.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606040"/>
            <a:ext cx="3511296" cy="109728"/>
          </a:xfrm>
          <a:prstGeom prst="rect">
            <a:avLst/>
          </a:prstGeom>
          <a:solidFill>
            <a:srgbClr val="B8893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6576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Glow Stack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1605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Piel, colágeno, antiinflamatorio.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5029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GHK-Cu · NMN · Resveratrol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260604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606040"/>
            <a:ext cx="3511296" cy="109728"/>
          </a:xfrm>
          <a:prstGeom prst="rect">
            <a:avLst/>
          </a:prstGeom>
          <a:solidFill>
            <a:srgbClr val="B8893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97180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63440" y="36576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Wolverine Stack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63440" y="41605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estructural y nerviosa.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63440" y="5029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BPC-157 · TB-500 · Goralatide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46720" y="2606040"/>
            <a:ext cx="3511296" cy="3291840"/>
          </a:xfrm>
          <a:prstGeom prst="roundRect">
            <a:avLst>
              <a:gd name="adj" fmla="val 2222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46720" y="2606040"/>
            <a:ext cx="3511296" cy="109728"/>
          </a:xfrm>
          <a:prstGeom prst="rect">
            <a:avLst/>
          </a:prstGeom>
          <a:solidFill>
            <a:srgbClr val="B8893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97180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66760" y="365760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Metabolic Longevity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66760" y="416052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Grasa visceral, NAD+, epigenética.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366760" y="5029200"/>
            <a:ext cx="2871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Tesamorelin · NMN · Spermidine · Khavinson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Híbrido: el e-commerce alimenta al lounge.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285232" cy="2286000"/>
          </a:xfrm>
          <a:prstGeom prst="roundRect">
            <a:avLst>
              <a:gd name="adj" fmla="val 32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86207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IA-nativo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520440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nacional, recurrencia, personalización 24/7. Adquisición de bajo costo + captura de datos.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38912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medio-alto · alta frecuencia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560320"/>
            <a:ext cx="5285232" cy="2286000"/>
          </a:xfrm>
          <a:prstGeom prst="roundRect">
            <a:avLst>
              <a:gd name="adj" fmla="val 3200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346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862072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físico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92240" y="3520440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premium, aplicación profesional, diagnóstico profundo. Confianza y ticket alto.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92240" y="4389120"/>
            <a:ext cx="4645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alto · ancla de marca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4008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ladder (hipótesis):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40080" y="5440680"/>
            <a:ext cx="3511296" cy="868680"/>
          </a:xfrm>
          <a:prstGeom prst="roundRect">
            <a:avLst>
              <a:gd name="adj" fmla="val 6316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68680" y="5532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68680" y="5852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+ membresía digital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343400" y="5440680"/>
            <a:ext cx="3511296" cy="868680"/>
          </a:xfrm>
          <a:prstGeom prst="roundRect">
            <a:avLst>
              <a:gd name="adj" fmla="val 6316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0" y="5532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4572000" y="5852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personalizado + seguimiento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46720" y="5440680"/>
            <a:ext cx="3511296" cy="868680"/>
          </a:xfrm>
          <a:prstGeom prst="roundRect">
            <a:avLst>
              <a:gd name="adj" fmla="val 6316"/>
            </a:avLst>
          </a:prstGeom>
          <a:solidFill>
            <a:srgbClr val="0E5A4A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75320" y="553212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275320" y="5852160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DE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Lounge: diagnóstico profundo + aplicación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categoría de doble dígito — aterrizada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bottom-up.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10058400" cy="960120"/>
          </a:xfrm>
          <a:prstGeom prst="roundRect">
            <a:avLst>
              <a:gd name="adj" fmla="val 4762"/>
            </a:avLst>
          </a:prstGeom>
          <a:solidFill>
            <a:srgbClr val="0E5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334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MX que gastan en wellness / estética / optimización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874520" y="3611880"/>
            <a:ext cx="7589520" cy="960120"/>
          </a:xfrm>
          <a:prstGeom prst="roundRect">
            <a:avLst>
              <a:gd name="adj" fmla="val 4762"/>
            </a:avLst>
          </a:prstGeom>
          <a:solidFill>
            <a:srgbClr val="12866E"/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37307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4114800"/>
            <a:ext cx="7040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Hombres urbanos de ingreso medio-alto+ dispuestos a pagar premium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54680" y="4709160"/>
            <a:ext cx="5029200" cy="960120"/>
          </a:xfrm>
          <a:prstGeom prst="roundRect">
            <a:avLst>
              <a:gd name="adj" fmla="val 4762"/>
            </a:avLst>
          </a:prstGeom>
          <a:solidFill>
            <a:srgbClr val="B88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4828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(3 años)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5212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Bajío + e-commerce IA · suscriptores × ARPU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8978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top-down de México divergen 2–3x según la fuente. El plan financiero se construye bottom-up: suscriptores × ARPU × retención.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centro del mercado está vacío.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035040" cy="3657600"/>
          </a:xfrm>
          <a:prstGeom prst="rect">
            <a:avLst/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297680"/>
            <a:ext cx="6035040" cy="0"/>
          </a:xfrm>
          <a:prstGeom prst="line">
            <a:avLst/>
          </a:prstGeom>
          <a:noFill/>
          <a:ln w="15240">
            <a:solidFill>
              <a:srgbClr val="C8D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2468880"/>
            <a:ext cx="0" cy="3657600"/>
          </a:xfrm>
          <a:prstGeom prst="line">
            <a:avLst/>
          </a:prstGeom>
          <a:noFill/>
          <a:ln w="15240">
            <a:solidFill>
              <a:srgbClr val="C8D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suelto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2121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+ servicio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-411480" y="4160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digital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-411480" y="5852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 / físico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37944" y="3300984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2048256" y="32369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Cuerpoymente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03704" y="3849624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2414016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BrutalRX / Exoma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9384" y="5312664"/>
            <a:ext cx="164592" cy="16459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2139696" y="52486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TRT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34256" y="5294376"/>
            <a:ext cx="292608" cy="292608"/>
          </a:xfrm>
          <a:prstGeom prst="ellipse">
            <a:avLst/>
          </a:prstGeom>
          <a:solidFill>
            <a:srgbClr val="B8893B">
              <a:alpha val="4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98264" y="5358384"/>
            <a:ext cx="164592" cy="164592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608576" y="5294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468880"/>
            <a:ext cx="4297680" cy="3657600"/>
          </a:xfrm>
          <a:prstGeom prst="roundRect">
            <a:avLst>
              <a:gd name="adj" fmla="val 2000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que ocupamos</a:t>
            </a:r>
            <a:endParaRPr lang="en-US" sz="15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3218688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818120" y="315468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"Hims de México" pure-play dominante.</a:t>
            </a:r>
            <a:endParaRPr lang="en-US" sz="12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3931920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818120" y="3867912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startup LatAm claramente "longevity" con capital.</a:t>
            </a:r>
            <a:endParaRPr lang="en-US" sz="12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4645152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18120" y="458114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Vendedores de péptidos: e-commerce gris, sin marca de confianza ni servicio.</a:t>
            </a:r>
            <a:endParaRPr lang="en-US" sz="12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535838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818120" y="529437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combina IA + protocolo + experiencia física + médico.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DEFENDIBLE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fosos, en orden de fuerza.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260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83464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moat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5920" y="3209544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(foto + labs + wearable + resultados) entrena el motor. Nadie local lo tiene.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606040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9260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83464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#1 auténtico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69480" y="3209544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documentada del fundador: marketing y validación imposibles de copiar.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251960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448056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híbrida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45920" y="4855464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+ IA. Los e-commerce no tienen lo físico; las clínicas no tienen la tecnología.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63640" y="4251960"/>
            <a:ext cx="5285232" cy="1508760"/>
          </a:xfrm>
          <a:prstGeom prst="roundRect">
            <a:avLst>
              <a:gd name="adj" fmla="val 4848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57200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69480" y="448056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bien hecho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269480" y="4855464"/>
            <a:ext cx="4050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responsable + farmacias magistrales: la opción seria y trazable en un mercado gris.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Validar → construir → escalar.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97280" y="3291840"/>
            <a:ext cx="9966960" cy="0"/>
          </a:xfrm>
          <a:prstGeom prst="line">
            <a:avLst/>
          </a:prstGeom>
          <a:noFill/>
          <a:ln w="25400">
            <a:solidFill>
              <a:srgbClr val="E3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Concierge manual: 5–10 clientes pagando vía WhatsApp. Fundador como Caso #1. Médico aliado.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3108960"/>
            <a:ext cx="365760" cy="36576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2–3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digital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11880" y="4114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motor de recomendación v1 + visión IA + suscripción. Documentar transformación.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498080" y="3108960"/>
            <a:ext cx="365760" cy="365760"/>
          </a:xfrm>
          <a:prstGeom prst="ellipse">
            <a:avLst/>
          </a:prstGeom>
          <a:solidFill>
            <a:srgbClr val="0E5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4–6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Híbrido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114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por API, detección de inconsistencias, lounge piloto en el Bajío.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332720" y="3108960"/>
            <a:ext cx="365760" cy="365760"/>
          </a:xfrm>
          <a:prstGeom prst="ellipse">
            <a:avLst/>
          </a:prstGeom>
          <a:solidFill>
            <a:srgbClr val="B88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2026–30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81160" y="41148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Reprogramación parcial, senolíticos, relojes epigenéticos — en el radar.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fundador es el Caso #1.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F4F6F5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3108960"/>
            <a:ext cx="1371600" cy="1371600"/>
          </a:xfrm>
          <a:prstGeom prst="ellipse">
            <a:avLst/>
          </a:prstGeom>
          <a:solidFill>
            <a:srgbClr val="0E5A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429000"/>
            <a:ext cx="731520" cy="731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3464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 el protocolo primero, genera contenido auténtico y se convierte en el primer dato del modelo.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834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real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83464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nerviosa, energía, piel — resultados medibles y documentados.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6235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marca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2356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"Cómo me sentí" alimenta el posicionamiento y la confianza.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4124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dato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412480" y="44348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baseline y evolución entrenan el motor de recomendación.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8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→ VENTAJA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cumplimiento es nuestro mayor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A1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diferenciador.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5285232" cy="3291840"/>
          </a:xfrm>
          <a:prstGeom prst="roundRect">
            <a:avLst>
              <a:gd name="adj" fmla="val 2222"/>
            </a:avLst>
          </a:prstGeom>
          <a:solidFill>
            <a:srgbClr val="EEF2F0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regulatoria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Péptidos en zona gris (COFEPRIS no los clasifica limpiamente).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 de salud requiere autorización previa (Art. 309 LGS).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/ NAD+ es acto médico (NOM-022): exige cédula profesional.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651760"/>
            <a:ext cx="5285232" cy="3291840"/>
          </a:xfrm>
          <a:prstGeom prst="roundRect">
            <a:avLst>
              <a:gd name="adj" fmla="val 2222"/>
            </a:avLst>
          </a:prstGeom>
          <a:solidFill>
            <a:srgbClr val="0E5A4A"/>
          </a:solidFill>
          <a:ln w="12700">
            <a:solidFill>
              <a:srgbClr val="E3E7E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2834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respuesta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 responsable en el modelo desde el día 1.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9959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Suministro vía farmacias magistrales (preparación bajo prescripción) — la vía más limpia y trazable.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6542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educación / optimización — no "medicamento".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53126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EA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"el serio" = confianza que ningún competidor gris tiene.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229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HOMBRE VIGENTE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 la referencia de longevidad y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estética masculina en México.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77240" y="42062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ya con algo potente y medible · construir autoridad con una transformación real · y tener la ventaja cuando las tecnologías de vanguardia maduren.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5669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Conversemos.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Hombre Vigente — Investment Concept Deck</dc:title>
  <dc:subject>PptxGenJS Presentation</dc:subject>
  <dc:creator>Hombre Vigente</dc:creator>
  <cp:lastModifiedBy>Hombre Vigente</cp:lastModifiedBy>
  <cp:revision>1</cp:revision>
  <dcterms:created xsi:type="dcterms:W3CDTF">2026-06-07T16:02:26Z</dcterms:created>
  <dcterms:modified xsi:type="dcterms:W3CDTF">2026-06-07T16:02:26Z</dcterms:modified>
</cp:coreProperties>
</file>